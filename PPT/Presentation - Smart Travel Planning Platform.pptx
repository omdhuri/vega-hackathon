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eorgia Pro Condensed" charset="1" panose="02040506050405020303"/>
      <p:regular r:id="rId12"/>
    </p:embeddedFont>
    <p:embeddedFont>
      <p:font typeface="Helvetica World Bold" charset="1" panose="020B0800040000020004"/>
      <p:regular r:id="rId13"/>
    </p:embeddedFont>
    <p:embeddedFont>
      <p:font typeface="Noto Serif Display ExtraCondensed Light" charset="1" panose="02020406080505020204"/>
      <p:regular r:id="rId14"/>
    </p:embeddedFont>
    <p:embeddedFont>
      <p:font typeface="Noto Serif Condensed" charset="1" panose="02020502060505020204"/>
      <p:regular r:id="rId15"/>
    </p:embeddedFont>
    <p:embeddedFont>
      <p:font typeface="Noto Serif Condensed Semi-Bold" charset="1" panose="02020502060505020204"/>
      <p:regular r:id="rId16"/>
    </p:embeddedFont>
    <p:embeddedFont>
      <p:font typeface="Helvetica World" charset="1" panose="020B050004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Smart Travel Planning Platform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5380" y="6828212"/>
            <a:ext cx="5895050" cy="316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b="true" sz="2832" spc="-4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Presented by: Alchemist</a:t>
            </a:r>
          </a:p>
          <a:p>
            <a:pPr algn="ctr">
              <a:lnSpc>
                <a:spcPts val="3399"/>
              </a:lnSpc>
            </a:pP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b="true" sz="2832" spc="-4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Members: Om Dh</a:t>
            </a:r>
            <a:r>
              <a:rPr lang="en-US" b="true" sz="2832" spc="-4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uri(Group Leader)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b="true" sz="2832" spc="-4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Onkar Avhad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b="true" sz="2832" spc="-4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Soham Desai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b="true" sz="2832" spc="-4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Harsh Gaikwad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2571750" cy="2228850"/>
            <a:chOff x="0" y="0"/>
            <a:chExt cx="398431" cy="3453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2"/>
              <a:stretch>
                <a:fillRect l="-168" t="0" r="-16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43300" y="4248150"/>
            <a:ext cx="2571750" cy="2228850"/>
            <a:chOff x="0" y="0"/>
            <a:chExt cx="398431" cy="3453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3"/>
              <a:stretch>
                <a:fillRect l="-168" t="0" r="-16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2571750" cy="2228850"/>
            <a:chOff x="0" y="0"/>
            <a:chExt cx="398431" cy="3453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4"/>
              <a:stretch>
                <a:fillRect l="-168" t="0" r="-16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2571750" cy="2228850"/>
            <a:chOff x="0" y="0"/>
            <a:chExt cx="398431" cy="3453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5"/>
              <a:stretch>
                <a:fillRect l="-168" t="0" r="-16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4248150"/>
            <a:ext cx="2571750" cy="2228850"/>
            <a:chOff x="0" y="0"/>
            <a:chExt cx="398431" cy="3453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6"/>
              <a:stretch>
                <a:fillRect l="-168" t="0" r="-16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049500" y="4248150"/>
            <a:ext cx="2571750" cy="2228850"/>
            <a:chOff x="0" y="0"/>
            <a:chExt cx="398431" cy="3453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7"/>
              <a:stretch>
                <a:fillRect l="-168" t="0" r="-168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7345" y="1175385"/>
            <a:ext cx="1695390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013927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Pain Points in Travel Planning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6934994"/>
            <a:ext cx="2571750" cy="1304131"/>
            <a:chOff x="0" y="0"/>
            <a:chExt cx="3429000" cy="173884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002242"/>
              <a:ext cx="3429000" cy="73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sz="1838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Lack of smart itinerary leads to inefficiency.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3429000" cy="36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b="true" sz="1838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Itinerary Issues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543300" y="6934994"/>
            <a:ext cx="2571750" cy="1304131"/>
            <a:chOff x="0" y="0"/>
            <a:chExt cx="3429000" cy="173884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002242"/>
              <a:ext cx="3429000" cy="73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sz="1838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No fit between budget and destination causes issues.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0"/>
              <a:ext cx="3429000" cy="36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b="true" sz="1838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Budget Misalignment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19850" y="6934994"/>
            <a:ext cx="2571750" cy="1580356"/>
            <a:chOff x="0" y="0"/>
            <a:chExt cx="3429000" cy="210714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1002242"/>
              <a:ext cx="3429000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sz="1838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Absence of filters limits personalized travel experiences.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0"/>
              <a:ext cx="3429000" cy="36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b="true" sz="1838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Interest Filters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96400" y="6934200"/>
            <a:ext cx="2571750" cy="1304925"/>
            <a:chOff x="0" y="0"/>
            <a:chExt cx="3429000" cy="173990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1003300"/>
              <a:ext cx="3429000" cy="73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sz="1838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Poor management leads to rushed and wasteful trips.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0"/>
              <a:ext cx="3429000" cy="36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b="true" sz="1838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Time Management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172950" y="6934200"/>
            <a:ext cx="2571750" cy="1581150"/>
            <a:chOff x="0" y="0"/>
            <a:chExt cx="3429000" cy="210820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1003300"/>
              <a:ext cx="3429000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sz="1838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Limited local attractions reduce immersive experiences.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0"/>
              <a:ext cx="3429000" cy="36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b="true" sz="1838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Eco-Friendly Discoveries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049500" y="6934200"/>
            <a:ext cx="2571750" cy="1581150"/>
            <a:chOff x="0" y="0"/>
            <a:chExt cx="3429000" cy="210820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1003300"/>
              <a:ext cx="3429000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sz="1838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Commercialized apps promote paid options over authenticity.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0"/>
              <a:ext cx="3429000" cy="36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06"/>
                </a:lnSpc>
              </a:pPr>
              <a:r>
                <a:rPr lang="en-US" b="true" sz="1838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Generic Apps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0139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1392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2571750" cy="2228850"/>
            <a:chOff x="0" y="0"/>
            <a:chExt cx="398431" cy="3453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2"/>
              <a:stretch>
                <a:fillRect l="-168" t="0" r="-16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43300" y="4248150"/>
            <a:ext cx="2571750" cy="2228850"/>
            <a:chOff x="0" y="0"/>
            <a:chExt cx="398431" cy="3453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3"/>
              <a:stretch>
                <a:fillRect l="-168" t="0" r="-16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2571750" cy="2228850"/>
            <a:chOff x="0" y="0"/>
            <a:chExt cx="398431" cy="3453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4"/>
              <a:stretch>
                <a:fillRect l="-168" t="0" r="-16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2571750" cy="2228850"/>
            <a:chOff x="0" y="0"/>
            <a:chExt cx="398431" cy="3453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5"/>
              <a:stretch>
                <a:fillRect l="-168" t="0" r="-16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4248150"/>
            <a:ext cx="2571750" cy="2228850"/>
            <a:chOff x="0" y="0"/>
            <a:chExt cx="398431" cy="3453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6"/>
              <a:stretch>
                <a:fillRect l="-168" t="0" r="-16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049500" y="4248150"/>
            <a:ext cx="2571750" cy="2228850"/>
            <a:chOff x="0" y="0"/>
            <a:chExt cx="398431" cy="3453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8431" cy="345307"/>
            </a:xfrm>
            <a:custGeom>
              <a:avLst/>
              <a:gdLst/>
              <a:ahLst/>
              <a:cxnLst/>
              <a:rect r="r" b="b" t="t" l="l"/>
              <a:pathLst>
                <a:path h="345307" w="398431">
                  <a:moveTo>
                    <a:pt x="0" y="0"/>
                  </a:moveTo>
                  <a:lnTo>
                    <a:pt x="398431" y="0"/>
                  </a:lnTo>
                  <a:lnTo>
                    <a:pt x="398431" y="345307"/>
                  </a:lnTo>
                  <a:lnTo>
                    <a:pt x="0" y="345307"/>
                  </a:lnTo>
                  <a:close/>
                </a:path>
              </a:pathLst>
            </a:custGeom>
            <a:blipFill>
              <a:blip r:embed="rId7"/>
              <a:stretch>
                <a:fillRect l="-168" t="0" r="-168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7345" y="1175385"/>
            <a:ext cx="1695390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013927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Pain Points in Travel Planning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6934994"/>
            <a:ext cx="2571750" cy="1694656"/>
            <a:chOff x="0" y="0"/>
            <a:chExt cx="3429000" cy="225954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030817"/>
              <a:ext cx="34290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sz="2013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No tailored plans for different ages or groups.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342900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b="true" sz="2013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Customization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543300" y="6934994"/>
            <a:ext cx="2571750" cy="1999456"/>
            <a:chOff x="0" y="0"/>
            <a:chExt cx="3429000" cy="266594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030817"/>
              <a:ext cx="3429000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sz="2013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Lack of clear information on regulations and permits.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342900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b="true" sz="2013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Guidance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19850" y="6934994"/>
            <a:ext cx="2571750" cy="1694656"/>
            <a:chOff x="0" y="0"/>
            <a:chExt cx="3429000" cy="225954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1030817"/>
              <a:ext cx="34290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sz="2013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Sustainable food options often overlooked by travelers.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9525"/>
              <a:ext cx="342900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b="true" sz="2013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Local Culture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96400" y="6934200"/>
            <a:ext cx="2571750" cy="1695450"/>
            <a:chOff x="0" y="0"/>
            <a:chExt cx="3429000" cy="226060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1031875"/>
              <a:ext cx="34290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sz="2013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Incompatibility between activities and traveler's time of visit.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342900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b="true" sz="2013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Seasonal Mismatches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172950" y="6934200"/>
            <a:ext cx="2571750" cy="1695450"/>
            <a:chOff x="0" y="0"/>
            <a:chExt cx="3429000" cy="226060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1031875"/>
              <a:ext cx="34290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sz="2013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Difficulty navigating through various conflicting travel apps.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342900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b="true" sz="2013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App Confusion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049500" y="6934200"/>
            <a:ext cx="2571750" cy="1695450"/>
            <a:chOff x="0" y="0"/>
            <a:chExt cx="3429000" cy="226060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1031875"/>
              <a:ext cx="34290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sz="2013" strike="noStrike" u="none">
                  <a:solidFill>
                    <a:srgbClr val="013927"/>
                  </a:solidFill>
                  <a:latin typeface="Noto Serif Condensed"/>
                  <a:ea typeface="Noto Serif Condensed"/>
                  <a:cs typeface="Noto Serif Condensed"/>
                  <a:sym typeface="Noto Serif Condensed"/>
                </a:rPr>
                <a:t>Generic listings overshadowing real local attractions.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-9525"/>
              <a:ext cx="342900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6"/>
                </a:lnSpc>
              </a:pPr>
              <a:r>
                <a:rPr lang="en-US" b="true" sz="2013" strike="noStrike" u="none">
                  <a:solidFill>
                    <a:srgbClr val="013927"/>
                  </a:solidFill>
                  <a:latin typeface="Noto Serif Condensed Semi-Bold"/>
                  <a:ea typeface="Noto Serif Condensed Semi-Bold"/>
                  <a:cs typeface="Noto Serif Condensed Semi-Bold"/>
                  <a:sym typeface="Noto Serif Condensed Semi-Bold"/>
                </a:rPr>
                <a:t>Authentic Experiences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0139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1392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13880"/>
            <a:ext cx="68865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Personalized recommendations based on user travel preferences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Structured filtering options for interests and budget considerations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 spc="-3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Automated itinerary generation for hassle-free travel planning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581025"/>
            <a:ext cx="6886575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Platform Overview &amp; Benefits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User Preferences and Filtering Logic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69175"/>
            <a:ext cx="6886575" cy="225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platform gathers user preferences, including interests, budget, travel type, and mood. These inputs are processed through a </a:t>
            </a:r>
            <a:r>
              <a:rPr lang="en-US" b="true" sz="2499" spc="-37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structured filtering mechanism</a:t>
            </a:r>
            <a:r>
              <a:rPr lang="en-US" sz="2499" spc="-37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 generate tailored destination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57562"/>
            <a:ext cx="400765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Day 1: Arrival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086350"/>
            <a:ext cx="4007657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the first day, travelers arrive at their destination, settle into accommodation, and enjoy a welcome dinner featuring local cuisine, providing an opportunity to relax and recharge.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1575" y="3357562"/>
            <a:ext cx="40100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Day 2: Exploration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6434" y="3313907"/>
            <a:ext cx="400310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Day 4: Reflection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81575" y="5086350"/>
            <a:ext cx="4010025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second day is dedicated to exploring major attractions, engaging in guided tours, and discovering hidden gems, encouraging participants to immerse themselves in the local culture and environment.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1225" y="5086350"/>
            <a:ext cx="4003106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final day focuses on relaxation and reflection, allowing travelers to revisit favorite spots, enjoy leisure time on the beach, or shop for souvenirs before heading home.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3357562"/>
            <a:ext cx="380784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Day 3: Adventure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189" y="5086350"/>
            <a:ext cx="4009236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Adventurous activities await on day three, whether it's hiking, biking, or water sports, offering exhilarating experiences and unforgettable memories, all while surrounded by stunning natural landscapes.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FFFC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CF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83154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CF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7189" y="4248150"/>
            <a:ext cx="323850" cy="32385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CF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11225" y="4248150"/>
            <a:ext cx="323850" cy="32385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CF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Day-wise Itinerary Overview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31690" y="7496748"/>
            <a:ext cx="3846023" cy="2481873"/>
            <a:chOff x="0" y="0"/>
            <a:chExt cx="2483582" cy="16026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83582" cy="1602677"/>
            </a:xfrm>
            <a:custGeom>
              <a:avLst/>
              <a:gdLst/>
              <a:ahLst/>
              <a:cxnLst/>
              <a:rect r="r" b="b" t="t" l="l"/>
              <a:pathLst>
                <a:path h="1602677" w="2483582">
                  <a:moveTo>
                    <a:pt x="40259" y="0"/>
                  </a:moveTo>
                  <a:lnTo>
                    <a:pt x="2443322" y="0"/>
                  </a:lnTo>
                  <a:cubicBezTo>
                    <a:pt x="2454000" y="0"/>
                    <a:pt x="2464240" y="4242"/>
                    <a:pt x="2471790" y="11792"/>
                  </a:cubicBezTo>
                  <a:cubicBezTo>
                    <a:pt x="2479340" y="19342"/>
                    <a:pt x="2483582" y="29582"/>
                    <a:pt x="2483582" y="40259"/>
                  </a:cubicBezTo>
                  <a:lnTo>
                    <a:pt x="2483582" y="1562418"/>
                  </a:lnTo>
                  <a:cubicBezTo>
                    <a:pt x="2483582" y="1584653"/>
                    <a:pt x="2465557" y="1602677"/>
                    <a:pt x="2443322" y="1602677"/>
                  </a:cubicBezTo>
                  <a:lnTo>
                    <a:pt x="40259" y="1602677"/>
                  </a:lnTo>
                  <a:cubicBezTo>
                    <a:pt x="18025" y="1602677"/>
                    <a:pt x="0" y="1584653"/>
                    <a:pt x="0" y="1562418"/>
                  </a:cubicBezTo>
                  <a:lnTo>
                    <a:pt x="0" y="40259"/>
                  </a:lnTo>
                  <a:cubicBezTo>
                    <a:pt x="0" y="29582"/>
                    <a:pt x="4242" y="19342"/>
                    <a:pt x="11792" y="11792"/>
                  </a:cubicBezTo>
                  <a:cubicBezTo>
                    <a:pt x="19342" y="4242"/>
                    <a:pt x="29582" y="0"/>
                    <a:pt x="40259" y="0"/>
                  </a:cubicBezTo>
                  <a:close/>
                </a:path>
              </a:pathLst>
            </a:custGeom>
            <a:blipFill>
              <a:blip r:embed="rId2"/>
              <a:stretch>
                <a:fillRect l="-414" t="0" r="-414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676775" y="7394171"/>
            <a:ext cx="4004981" cy="2584450"/>
            <a:chOff x="0" y="0"/>
            <a:chExt cx="2483582" cy="16026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83582" cy="1602677"/>
            </a:xfrm>
            <a:custGeom>
              <a:avLst/>
              <a:gdLst/>
              <a:ahLst/>
              <a:cxnLst/>
              <a:rect r="r" b="b" t="t" l="l"/>
              <a:pathLst>
                <a:path h="1602677" w="2483582">
                  <a:moveTo>
                    <a:pt x="38661" y="0"/>
                  </a:moveTo>
                  <a:lnTo>
                    <a:pt x="2444920" y="0"/>
                  </a:lnTo>
                  <a:cubicBezTo>
                    <a:pt x="2455174" y="0"/>
                    <a:pt x="2465008" y="4073"/>
                    <a:pt x="2472258" y="11324"/>
                  </a:cubicBezTo>
                  <a:cubicBezTo>
                    <a:pt x="2479509" y="18574"/>
                    <a:pt x="2483582" y="28408"/>
                    <a:pt x="2483582" y="38661"/>
                  </a:cubicBezTo>
                  <a:lnTo>
                    <a:pt x="2483582" y="1564016"/>
                  </a:lnTo>
                  <a:cubicBezTo>
                    <a:pt x="2483582" y="1574270"/>
                    <a:pt x="2479509" y="1584103"/>
                    <a:pt x="2472258" y="1591354"/>
                  </a:cubicBezTo>
                  <a:cubicBezTo>
                    <a:pt x="2465008" y="1598604"/>
                    <a:pt x="2455174" y="1602677"/>
                    <a:pt x="2444920" y="1602677"/>
                  </a:cubicBezTo>
                  <a:lnTo>
                    <a:pt x="38661" y="1602677"/>
                  </a:lnTo>
                  <a:cubicBezTo>
                    <a:pt x="28408" y="1602677"/>
                    <a:pt x="18574" y="1598604"/>
                    <a:pt x="11324" y="1591354"/>
                  </a:cubicBezTo>
                  <a:cubicBezTo>
                    <a:pt x="4073" y="1584103"/>
                    <a:pt x="0" y="1574270"/>
                    <a:pt x="0" y="1564016"/>
                  </a:cubicBezTo>
                  <a:lnTo>
                    <a:pt x="0" y="38661"/>
                  </a:lnTo>
                  <a:cubicBezTo>
                    <a:pt x="0" y="28408"/>
                    <a:pt x="4073" y="18574"/>
                    <a:pt x="11324" y="11324"/>
                  </a:cubicBezTo>
                  <a:cubicBezTo>
                    <a:pt x="18574" y="4073"/>
                    <a:pt x="28408" y="0"/>
                    <a:pt x="38661" y="0"/>
                  </a:cubicBezTo>
                  <a:close/>
                </a:path>
              </a:pathLst>
            </a:custGeom>
            <a:blipFill>
              <a:blip r:embed="rId3"/>
              <a:stretch>
                <a:fillRect l="-414" t="0" r="-414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0" y="7427577"/>
            <a:ext cx="976312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12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Travel Collaboration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11986" y="8597489"/>
            <a:ext cx="5448300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</a:pPr>
            <a:r>
              <a:rPr lang="en-US" sz="2499" spc="-3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Effortless sharing and group planning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Smart Travel Planning Platform</dc:description>
  <dc:identifier>DAHB23SN8m4</dc:identifier>
  <dcterms:modified xsi:type="dcterms:W3CDTF">2011-08-01T06:04:30Z</dcterms:modified>
  <cp:revision>1</cp:revision>
  <dc:title>Presentation - Smart Travel Planning Platform</dc:title>
</cp:coreProperties>
</file>